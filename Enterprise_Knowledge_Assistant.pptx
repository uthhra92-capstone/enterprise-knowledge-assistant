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Enterprise Knowledge Assistant - a production-oriented RAG application. The goal was to go beyond a basic 'chat with PDF' demo by adding hybrid retrieval, reranking, conversation memory, citations and hallucination handling behind a clean Streamlit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Frames the gap between a toy RAG demo and something an organisation could actually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Matches the expected architecture in the brief: Documents to Loader to Chunking to Embeddings to Vector Store, then a query fans out to vector + BM25 search, is fused, reranked, gated, answered with memory, and returned with sources to the Streamlit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features mapped one-to-one to the functional requirements: hybrid search, reranking, memory, citations, hallucination handling and the Streamlit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complete toolset, grouped. Everything runs locally; the only external dependency is the OpenAI API for the LLM and embeddings, which the brief explicitly permits.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Query to Retrieval to Candidate documents to Reranking to Final context to LLM - the exact flow from the brief, with a memory step in front and a grounding gate before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independent layers, plus a real transcript line showing the assistant refusing to answer a question the documents do not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18-test offline suite runs with fake embedders and a fake LLM, so it needs no network. A scripted live run against OpenAI answered all six probe questions correctly, including two memory follow-ups and one not-found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stage of the pipeline is its own small, single-responsibility module. The UI is a thin layer over an importable eka package, which is what made the offline test suite straightforward.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Recap: the project demonstrates hybrid search, BM25, reranking, conversation memory, prompt engineering, source citation and hallucination mitigation in a structured, tested, deployed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3474720"/>
            <a:ext cx="5852160" cy="5852160"/>
          </a:xfrm>
          <a:prstGeom prst="ellipse">
            <a:avLst/>
          </a:prstGeom>
          <a:noFill/>
          <a:ln w="15875">
            <a:solidFill>
              <a:srgbClr val="354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4297680"/>
            <a:ext cx="4206240" cy="4206240"/>
          </a:xfrm>
          <a:prstGeom prst="ellipse">
            <a:avLst/>
          </a:prstGeom>
          <a:noFill/>
          <a:ln w="15875">
            <a:solidFill>
              <a:srgbClr val="354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5029200"/>
            <a:ext cx="2743200" cy="2743200"/>
          </a:xfrm>
          <a:prstGeom prst="ellipse">
            <a:avLst/>
          </a:prstGeom>
          <a:noFill/>
          <a:ln w="15875">
            <a:solidFill>
              <a:srgbClr val="354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6304"/>
            <a:ext cx="11057839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ADCFC"/>
                </a:solidFill>
                <a:latin typeface="Calibri"/>
              </a:rPr>
              <a:t>FINAL EVALUATION PROJECT   ·   BATCH 1   ·   PROJECT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607040" cy="1965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Enterprise Knowledge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9052560" cy="9144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Advanced Retrieval-Augmented Generation for question answering over a collection of private company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172200"/>
            <a:ext cx="1060704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CADCFC"/>
                </a:solidFill>
                <a:latin typeface="Calibri"/>
              </a:rPr>
              <a:t>Python  ·  LangChain  ·  RAG  ·  OpenAI API  ·  FAISS Vector DB  ·  BM25  ·  Reranking  · 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B6472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8412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Beyond “Chat with a PDF”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5806440" cy="42976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Employees lose time searching HR, IT and travel policies spread across many files.</a:t>
            </a:r>
          </a:p>
          <a:p>
            <a:pPr algn="l">
              <a:spcAft>
                <a:spcPts val="12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A basic RAG demo retrieves a few chunks by vector similarity and hopes the model answers well - it misses keyword matches, over-trusts weak context, and cannot handle follow-up questions.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Objective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A grounded, citeable assistant that combines retrieval strategies, remembers the conversation, and clearly says when an answer is not in the documents.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554480"/>
            <a:ext cx="4903927" cy="370332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59168" y="1810512"/>
            <a:ext cx="44805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E2761"/>
                </a:solidFill>
                <a:latin typeface="Cambria"/>
              </a:rPr>
              <a:t>What makes it production-oriented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2377440"/>
            <a:ext cx="4526280" cy="2834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•  Hybrid retrieval — semantic vectors + BM25 keywords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•  Reranking step to sharpen the final context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•  Conversation memory for natural follow-ups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•  Answers grounded in sources, shown with citations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•  Explicit “not found” instead of a guess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•  Usable UI: chat, history, reset, document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B6472"/>
                </a:solidFill>
                <a:latin typeface="Calibri"/>
              </a:rPr>
              <a:t>HOW IT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8412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64008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B6472"/>
                </a:solidFill>
                <a:latin typeface="Calibri"/>
              </a:rPr>
              <a:t>INGEST  ·  OFFLINE, ONE-TIME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975104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1975104" cy="8961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1E2761"/>
                </a:solidFill>
                <a:latin typeface="Calibri"/>
              </a:rPr>
              <a:t>Documents
PDF · DOCX · TXT · MD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87752" y="2162556"/>
            <a:ext cx="204139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7611" y="1783080"/>
            <a:ext cx="1975104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7611" y="1783080"/>
            <a:ext cx="1975104" cy="8961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1E2761"/>
                </a:solidFill>
                <a:latin typeface="Calibri"/>
              </a:rPr>
              <a:t>Loaders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58435" y="2162556"/>
            <a:ext cx="204139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08295" y="1783080"/>
            <a:ext cx="1975104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8295" y="1783080"/>
            <a:ext cx="1975104" cy="8961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1E2761"/>
                </a:solidFill>
                <a:latin typeface="Calibri"/>
              </a:rPr>
              <a:t>Chunking
1000 / 150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29119" y="2162556"/>
            <a:ext cx="204139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78979" y="1783080"/>
            <a:ext cx="1975104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8979" y="1783080"/>
            <a:ext cx="1975104" cy="8961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1E2761"/>
                </a:solidFill>
                <a:latin typeface="Calibri"/>
              </a:rPr>
              <a:t>Embeddings
text-embedding-3-small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399803" y="2162556"/>
            <a:ext cx="204139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49663" y="1783080"/>
            <a:ext cx="1975104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9663" y="1783080"/>
            <a:ext cx="1975104" cy="8961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1E2761"/>
                </a:solidFill>
                <a:latin typeface="Calibri"/>
              </a:rPr>
              <a:t>FAISS
Vector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291840"/>
            <a:ext cx="64008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B6472"/>
                </a:solidFill>
                <a:latin typeface="Calibri"/>
              </a:rPr>
              <a:t>QUERY  ·  PER QUESTION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657600"/>
            <a:ext cx="164592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657600"/>
            <a:ext cx="1645920" cy="8961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User query
+ memory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249424" y="4037076"/>
            <a:ext cx="163311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49311" y="3657600"/>
            <a:ext cx="164592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49311" y="3657600"/>
            <a:ext cx="1645920" cy="8961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Hybrid Retrieval
vector + BM25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131807" y="4037076"/>
            <a:ext cx="163311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31695" y="3657600"/>
            <a:ext cx="164592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31695" y="3657600"/>
            <a:ext cx="1645920" cy="8961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RRF Fusion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014191" y="4037076"/>
            <a:ext cx="163311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4079" y="3657600"/>
            <a:ext cx="164592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4079" y="3657600"/>
            <a:ext cx="1645920" cy="8961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Reranking
LLM judge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896575" y="4037076"/>
            <a:ext cx="163311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96463" y="3657600"/>
            <a:ext cx="164592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6463" y="3657600"/>
            <a:ext cx="1645920" cy="8961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Grounding Gate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778959" y="4037076"/>
            <a:ext cx="163311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978847" y="3657600"/>
            <a:ext cx="164592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78847" y="3657600"/>
            <a:ext cx="1645920" cy="8961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LLM + Memory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074920"/>
            <a:ext cx="11057839" cy="8686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5074920"/>
            <a:ext cx="10509199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Grounded answer  +  source citations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rendered in the Streamlit chat UI  —  history · reset · retrieval inspector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B6472"/>
                </a:solidFill>
                <a:latin typeface="Calibri"/>
              </a:rPr>
              <a:t>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8412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472586" cy="2084831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810512"/>
            <a:ext cx="384048" cy="384048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773936"/>
            <a:ext cx="2512466" cy="5029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Hybrid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95728"/>
            <a:ext cx="2905658" cy="1124711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Semantic vector search and BM25 keyword search, merged with Reciprocal Rank Fusion (RRF).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9554" y="1572768"/>
            <a:ext cx="3472586" cy="2084831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5586" y="1810512"/>
            <a:ext cx="384048" cy="384048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6794" y="1773936"/>
            <a:ext cx="2512466" cy="5029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Reranking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2162" y="2395728"/>
            <a:ext cx="2905658" cy="1124711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An LLM scores every fused candidate 0-10; only the top 4 passages reach the answer prompt.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2180" y="1572768"/>
            <a:ext cx="3472586" cy="2084831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8212" y="1810512"/>
            <a:ext cx="384048" cy="384048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9420" y="1773936"/>
            <a:ext cx="2512466" cy="5029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Conversational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4788" y="2395728"/>
            <a:ext cx="2905658" cy="1124711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Windowed history + query rewriting: “What about carry-forward?” becomes a standalone question.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50207"/>
            <a:ext cx="3472586" cy="2084831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187951"/>
            <a:ext cx="384048" cy="384048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51375"/>
            <a:ext cx="2512466" cy="5029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Source Citations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773168"/>
            <a:ext cx="2905658" cy="1124711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Answers carry [n] markers that resolve back to file names, e.g. Leave_Policy.md.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9554" y="3950207"/>
            <a:ext cx="3472586" cy="2084831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15586" y="4187951"/>
            <a:ext cx="384048" cy="384048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6794" y="4151375"/>
            <a:ext cx="2512466" cy="5029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Hallucination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2162" y="4773168"/>
            <a:ext cx="2905658" cy="1124711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Strict grounding prompt + a similarity gate return “I could not find this information…”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2180" y="3950207"/>
            <a:ext cx="3472586" cy="2084831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08212" y="4187951"/>
            <a:ext cx="384048" cy="384048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9420" y="4151375"/>
            <a:ext cx="2512466" cy="5029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Usable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4788" y="4773168"/>
            <a:ext cx="2905658" cy="1124711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Streamlit chat, persistent history, clear / reset, retrieval inspector, in-app upload &amp; remove.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B6472"/>
                </a:solidFill>
                <a:latin typeface="Calibri"/>
              </a:rP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8412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Technologies &amp; Tools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673352"/>
            <a:ext cx="384048" cy="384048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508760"/>
            <a:ext cx="283464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Language &amp;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874519"/>
            <a:ext cx="10006279" cy="40233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Python 3.14   ·   NumPy   ·   Pydantic   ·   python-dotenv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59736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715768"/>
            <a:ext cx="384048" cy="384048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551176"/>
            <a:ext cx="283464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GenAI &amp;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916936"/>
            <a:ext cx="10006279" cy="40233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LangChain   ·   OpenAI API (gpt-4o-mini)   ·   text-embedding-3-small   ·   RAG   ·   Prompt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02152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758184"/>
            <a:ext cx="384048" cy="384048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593592"/>
            <a:ext cx="283464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Retrieval &amp; 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959352"/>
            <a:ext cx="10006279" cy="40233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FAISS vector database   ·   BM25 / rank-bm25   ·   Hybrid search   ·   Reciprocal Rank Fusion   ·   LLM reranker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44568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800600"/>
            <a:ext cx="384048" cy="384048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636007"/>
            <a:ext cx="283464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Ingestion &amp;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5001768"/>
            <a:ext cx="10006279" cy="40233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pypdf   ·   python-docx   ·   RecursiveCharacterTextSplitter   ·   Conversation memory   ·   SQLite chat history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86983"/>
            <a:ext cx="11057839" cy="896112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5843016"/>
            <a:ext cx="384048" cy="384048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5678423"/>
            <a:ext cx="283464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Interface, delivery &amp; 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6044183"/>
            <a:ext cx="10006279" cy="40233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Streamlit   ·   Streamlit Community Cloud   ·   Git / GitHub   ·   Offline test suite (18)   ·   Live eval script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B6472"/>
                </a:solidFill>
                <a:latin typeface="Calibri"/>
              </a:rPr>
              <a:t>REQUEST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8412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How a Question is Answered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536192"/>
            <a:ext cx="365760" cy="365760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508760"/>
            <a:ext cx="1600200" cy="42062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Condense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7208" y="1508760"/>
            <a:ext cx="8817559" cy="42062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B2333"/>
                </a:solidFill>
                <a:latin typeface="Calibri"/>
              </a:rPr>
              <a:t>Rewrite the follow-up into a standalone question using the recent conversation.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258568"/>
            <a:ext cx="365760" cy="365760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231136"/>
            <a:ext cx="1600200" cy="42062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Retrieve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2231136"/>
            <a:ext cx="8817559" cy="42062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B2333"/>
                </a:solidFill>
                <a:latin typeface="Calibri"/>
              </a:rPr>
              <a:t>Top-8 chunks by vector similarity (FAISS) and top-8 by BM25 keyword score.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2980944"/>
            <a:ext cx="365760" cy="365760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953512"/>
            <a:ext cx="1600200" cy="42062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Fuse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2953512"/>
            <a:ext cx="8817559" cy="42062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B2333"/>
                </a:solidFill>
                <a:latin typeface="Calibri"/>
              </a:rPr>
              <a:t>Reciprocal Rank Fusion merges both lists into a single ranked set (top 10).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3703320"/>
            <a:ext cx="365760" cy="365760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3675887"/>
            <a:ext cx="1600200" cy="42062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Rerank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3675887"/>
            <a:ext cx="8817559" cy="42062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B2333"/>
                </a:solidFill>
                <a:latin typeface="Calibri"/>
              </a:rPr>
              <a:t>An LLM scores each candidate for relevance; keep the best 4.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4425696"/>
            <a:ext cx="365760" cy="365760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398264"/>
            <a:ext cx="1600200" cy="42062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7208" y="4398264"/>
            <a:ext cx="8817559" cy="42062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B2333"/>
                </a:solidFill>
                <a:latin typeface="Calibri"/>
              </a:rPr>
              <a:t>If the best similarity &lt; 0.20, skip the LLM and return the fixed “not found” reply.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5148072"/>
            <a:ext cx="365760" cy="365760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5120640"/>
            <a:ext cx="1600200" cy="42062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7208" y="5120640"/>
            <a:ext cx="8817559" cy="42062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B2333"/>
                </a:solidFill>
                <a:latin typeface="Calibri"/>
              </a:rPr>
              <a:t>The LLM sees numbered context + recent turns and must cite passages as [n].</a:t>
            </a:r>
          </a:p>
        </p:txBody>
      </p:sp>
      <p:sp>
        <p:nvSpPr>
          <p:cNvPr id="23" name="Oval 22"/>
          <p:cNvSpPr/>
          <p:nvPr/>
        </p:nvSpPr>
        <p:spPr>
          <a:xfrm>
            <a:off x="566928" y="5870448"/>
            <a:ext cx="365760" cy="365760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" y="5843016"/>
            <a:ext cx="1600200" cy="42062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Cite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7208" y="5843016"/>
            <a:ext cx="8817559" cy="42062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B2333"/>
                </a:solidFill>
                <a:latin typeface="Calibri"/>
              </a:rPr>
              <a:t>Map [n] back to source files; show sources and per-chunk retrieval scores.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B6472"/>
                </a:solidFill>
                <a:latin typeface="Calibri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8412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Grounding &amp; Hallucination Mitigation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3442106" cy="2514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2075688"/>
            <a:ext cx="384048" cy="384048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679191"/>
            <a:ext cx="285689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1E2761"/>
                </a:solidFill>
                <a:latin typeface="Cambria"/>
              </a:rPr>
              <a:t>Instruction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108960"/>
            <a:ext cx="2856890" cy="10515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System prompt forbids outside knowledge and requires a [n] citation for every factual statement.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4794" y="1783080"/>
            <a:ext cx="3442106" cy="2514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49114" y="2075688"/>
            <a:ext cx="384048" cy="384048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402" y="2679191"/>
            <a:ext cx="285689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1E2761"/>
                </a:solidFill>
                <a:latin typeface="Cambria"/>
              </a:rPr>
              <a:t>Retrieval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402" y="3108960"/>
            <a:ext cx="2856890" cy="10515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A cosine-similarity threshold short-circuits to a fixed message before the LLM is ever called.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2660" y="1783080"/>
            <a:ext cx="3442106" cy="25146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56980" y="2075688"/>
            <a:ext cx="384048" cy="384048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5268" y="2679191"/>
            <a:ext cx="285689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1E2761"/>
                </a:solidFill>
                <a:latin typeface="Cambria"/>
              </a:rP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5268" y="3108960"/>
            <a:ext cx="2856890" cy="10515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Citations are parsed from the answer; the “not found” reply is forced to return zero sources.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09160"/>
            <a:ext cx="11057839" cy="1481328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709160"/>
            <a:ext cx="10417759" cy="14813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CADCFC"/>
                </a:solidFill>
                <a:latin typeface="Calibri"/>
              </a:rPr>
              <a:t>Live example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Q:  “What is the company policy on cryptocurrency trading bonuses?”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A:  “I could not find this information in the available documents.”   —   sources: none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B6472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8412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Results &amp;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2524429" cy="246888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2286000"/>
            <a:ext cx="2304973" cy="9144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3300" b="1" i="0">
                <a:solidFill>
                  <a:srgbClr val="D99A0B"/>
                </a:solidFill>
                <a:latin typeface="Cambria"/>
              </a:rPr>
              <a:t>18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10128"/>
            <a:ext cx="2195245" cy="9144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offline unit tests passing
(no API key required)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1397" y="1828800"/>
            <a:ext cx="2524429" cy="246888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1125" y="2286000"/>
            <a:ext cx="2304973" cy="9144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3300" b="1" i="0">
                <a:solidFill>
                  <a:srgbClr val="D99A0B"/>
                </a:solidFill>
                <a:latin typeface="Cambria"/>
              </a:rPr>
              <a:t>9 →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989" y="3310128"/>
            <a:ext cx="2195245" cy="9144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sample documents indexed
into FAISS chunks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828800"/>
            <a:ext cx="2524429" cy="246888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5595" y="2286000"/>
            <a:ext cx="2304973" cy="9144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3300" b="1" i="0">
                <a:solidFill>
                  <a:srgbClr val="D99A0B"/>
                </a:solidFill>
                <a:latin typeface="Cambria"/>
              </a:rPr>
              <a:t>6 /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0459" y="3310128"/>
            <a:ext cx="2195245" cy="9144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live Q&amp;A scenarios
answered correctly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00337" y="1828800"/>
            <a:ext cx="2524429" cy="246888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0065" y="2286000"/>
            <a:ext cx="2304973" cy="9144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3300" b="1" i="0">
                <a:solidFill>
                  <a:srgbClr val="D99A0B"/>
                </a:solidFill>
                <a:latin typeface="Cambria"/>
              </a:rPr>
              <a:t>&lt; 10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4929" y="3310128"/>
            <a:ext cx="2195245" cy="9144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typical end-to-end
response (gpt-4o-mini)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663440"/>
            <a:ext cx="11057839" cy="9144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Calibri"/>
              </a:rPr>
              <a:t>Coverage:  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loaders · chunking · FAISS + NumPy stores · BM25 · RRF fusion · both rerankers · memory + condensation · SQLite history (owner isolation, schema migration) · corpus add/remove · full pipeline with grounding gate &amp; citations.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852160"/>
            <a:ext cx="11057839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1">
                <a:solidFill>
                  <a:srgbClr val="5B6472"/>
                </a:solidFill>
                <a:latin typeface="Calibri"/>
              </a:rPr>
              <a:t>Deployed on Streamlit Community Cloud   ·   full transcript in SAMPLE_OUTPUT.md   ·   test guide in TESTING.md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1057839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B6472"/>
                </a:solidFill>
                <a:latin typeface="Calibri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57839" cy="8412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Structured Application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4114800" cy="34290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874519"/>
            <a:ext cx="34747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1E2761"/>
                </a:solidFill>
                <a:latin typeface="Cambria"/>
              </a:rPr>
              <a:t>Entry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23160"/>
            <a:ext cx="3611880" cy="2468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•  app.py  –  Streamlit UI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•  ingest.py  –  build the FAISS index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•  eval.py  –  scripted live demo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•  tests/  –  18-test offline suite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•  data/documents/  –  sample corpus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38928" y="1600200"/>
            <a:ext cx="6485839" cy="34290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D5E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58968" y="1874519"/>
            <a:ext cx="658368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1E2761"/>
                </a:solidFill>
                <a:latin typeface="Cambria"/>
              </a:rPr>
              <a:t>eka/  –  the RAG engine (importable package)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8968" y="2423160"/>
            <a:ext cx="3017520" cy="2468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333"/>
                </a:solidFill>
                <a:latin typeface="Calibri"/>
              </a:rPr>
              <a:t>•  config  –  env-driven settings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333"/>
                </a:solidFill>
                <a:latin typeface="Calibri"/>
              </a:rPr>
              <a:t>•  loaders  –  pdf / docx / txt / md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333"/>
                </a:solidFill>
                <a:latin typeface="Calibri"/>
              </a:rPr>
              <a:t>•  chunking  –  recursive splitter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333"/>
                </a:solidFill>
                <a:latin typeface="Calibri"/>
              </a:rPr>
              <a:t>•  embeddings  –  OpenAI factory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333"/>
                </a:solidFill>
                <a:latin typeface="Calibri"/>
              </a:rPr>
              <a:t>•  vector_store  –  FAISS (+ NumPy)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333"/>
                </a:solidFill>
                <a:latin typeface="Calibri"/>
              </a:rPr>
              <a:t>•  retrievers  –  BM25 + RRF 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7928" y="2423160"/>
            <a:ext cx="3017520" cy="2468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333"/>
                </a:solidFill>
                <a:latin typeface="Calibri"/>
              </a:rPr>
              <a:t>•  reranker  –  LLM / Cohere / none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333"/>
                </a:solidFill>
                <a:latin typeface="Calibri"/>
              </a:rPr>
              <a:t>•  memory  –  window + condensation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333"/>
                </a:solidFill>
                <a:latin typeface="Calibri"/>
              </a:rPr>
              <a:t>•  history  –  SQLite persistence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333"/>
                </a:solidFill>
                <a:latin typeface="Calibri"/>
              </a:rPr>
              <a:t>•  prompts  –  system / answer / rerank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B2333"/>
                </a:solidFill>
                <a:latin typeface="Calibri"/>
              </a:rPr>
              <a:t>•  pipeline  –  ingest() + answer()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-1828800"/>
            <a:ext cx="5486400" cy="5486400"/>
          </a:xfrm>
          <a:prstGeom prst="ellipse">
            <a:avLst/>
          </a:prstGeom>
          <a:noFill/>
          <a:ln w="15875">
            <a:solidFill>
              <a:srgbClr val="354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19" y="-1005840"/>
            <a:ext cx="3840480" cy="3840480"/>
          </a:xfrm>
          <a:prstGeom prst="ellipse">
            <a:avLst/>
          </a:prstGeom>
          <a:noFill/>
          <a:ln w="15875">
            <a:solidFill>
              <a:srgbClr val="354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19" y="-320040"/>
            <a:ext cx="2468880" cy="2468880"/>
          </a:xfrm>
          <a:prstGeom prst="ellipse">
            <a:avLst/>
          </a:prstGeom>
          <a:noFill/>
          <a:ln w="15875">
            <a:solidFill>
              <a:srgbClr val="354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6304"/>
            <a:ext cx="11057839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ADCFC"/>
                </a:solidFill>
                <a:latin typeface="Calibri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57839" cy="1554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A production-oriented RAG assistant —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not a chat-with-PDF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00400"/>
            <a:ext cx="9144000" cy="2468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•  Hybrid retrieval + reranking for relevant context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•  Conversation memory for natural follow-up questions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•  Citations and a grounding gate for answers you can trust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•  Clean, modular eka/ package — tested (18/18) and deployed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72200"/>
            <a:ext cx="11057839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CADCFC"/>
                </a:solidFill>
                <a:latin typeface="Calibri"/>
              </a:rPr>
              <a:t>Enterprise Knowledge Assistant   ·   Advanced RAG   ·   Streamlit Community Cloud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